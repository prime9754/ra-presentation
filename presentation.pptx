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Multi-Modal Deep Learning for</a:t>
            </a:r>
          </a:p>
          <a:p>
            <a:r>
              <a:t>Orthodontic Malocclusion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Comparing Three Experimental Approaches</a:t>
            </a:r>
          </a:p>
          <a:p/>
          <a:p>
            <a:r>
              <a:t>Phase 1 Experiments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Objective: Three-class malocclusion classification (Class I, II, III)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Challenge: How to effectively leverage multi-modal medical imaging?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Image Modalities:</a:t>
            </a:r>
          </a:p>
          <a:p>
            <a:pPr>
              <a:defRPr sz="1800"/>
            </a:pPr>
            <a:r>
              <a:t>  • OPG (Panoramic X-rays)</a:t>
            </a:r>
          </a:p>
          <a:p>
            <a:pPr>
              <a:defRPr sz="1800"/>
            </a:pPr>
            <a:r>
              <a:t>  • Intraoral photographs</a:t>
            </a:r>
          </a:p>
          <a:p>
            <a:pPr>
              <a:defRPr sz="1800"/>
            </a:pPr>
            <a:r>
              <a:t>  • Cephalometric X-rays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Dataset: 422 unique patients with patient-aware splitting (70/15/15)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Experimental Approaches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OPG-only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MedGemma-4B (frozen) + classifier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Naïve Late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 CNNs (one per modality) + ensemble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Multi-Image Prompting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MedGemma-4B with multi-image tokens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Detailed Architecture Comparison</a:t>
            </a:r>
          </a:p>
        </p:txBody>
      </p:sp>
      <p:pic>
        <p:nvPicPr>
          <p:cNvPr id="4" name="Picture 3" descr="architecture_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1251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Comprehensive comparison of all architectural aspects and performance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 Flow Diagrams</a:t>
            </a:r>
          </a:p>
        </p:txBody>
      </p:sp>
      <p:pic>
        <p:nvPicPr>
          <p:cNvPr id="4" name="Picture 3" descr="architecture_flow_dia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265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Visual representation of data flow through each experimental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Experiment 1: OPG-only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Strategy: Establish single-modality baseline using panoramic X-rays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Architecture:</a:t>
            </a:r>
          </a:p>
          <a:p>
            <a:pPr>
              <a:defRPr sz="1800"/>
            </a:pPr>
            <a:r>
              <a:t>  • Frozen MedGemma-4B vision encoder (1152-dim features)</a:t>
            </a:r>
          </a:p>
          <a:p>
            <a:pPr>
              <a:defRPr sz="1800"/>
            </a:pPr>
            <a:r>
              <a:t>  • Trainable classification head</a:t>
            </a:r>
          </a:p>
          <a:p>
            <a:pPr>
              <a:defRPr sz="1800"/>
            </a:pPr>
            <a:r>
              <a:t>  • Robust 3-tier modality filtering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Training:</a:t>
            </a:r>
          </a:p>
          <a:p>
            <a:pPr>
              <a:defRPr sz="1800"/>
            </a:pPr>
            <a:r>
              <a:t>  • 20 epochs, batch size 8</a:t>
            </a:r>
          </a:p>
          <a:p>
            <a:pPr>
              <a:defRPr sz="1800"/>
            </a:pPr>
            <a:r>
              <a:t>  • AdamW optimizer, Cosine LR scheduler</a:t>
            </a:r>
          </a:p>
          <a:p>
            <a:pPr>
              <a:defRPr sz="1800"/>
            </a:pPr>
            <a:r>
              <a:t>  • Only OPG images used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Best Performance: 66.67% validation accuracy (epoch 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Experiment 2: Naïve Late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Strategy: Train separate classifiers per modality, fuse at decision level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Architecture:</a:t>
            </a:r>
          </a:p>
          <a:p>
            <a:pPr>
              <a:defRPr sz="1800"/>
            </a:pPr>
            <a:r>
              <a:t>  • Intraoral CNN: SimpleClassifier (512-dim) → intraoral images</a:t>
            </a:r>
          </a:p>
          <a:p>
            <a:pPr>
              <a:defRPr sz="1800"/>
            </a:pPr>
            <a:r>
              <a:t>  • OPG CNN: SimpleClassifier (512-dim) → panoramic X-rays</a:t>
            </a:r>
          </a:p>
          <a:p>
            <a:pPr>
              <a:defRPr sz="1800"/>
            </a:pPr>
            <a:r>
              <a:t>  • Ceph CNN: SimpleClassifier (512-dim) → cephalometric X-rays</a:t>
            </a:r>
          </a:p>
          <a:p>
            <a:pPr>
              <a:defRPr sz="1800"/>
            </a:pPr>
            <a:r>
              <a:t>  • Fusion: Average predictions from all three classifiers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Training: Sequential training, 45 epochs each modality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Best Performance: 93.51% validation accuracy 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Experiment 3: Multi-Image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Strategy: Feed multiple images with specialized prompts to MedGemma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Architecture:</a:t>
            </a:r>
          </a:p>
          <a:p>
            <a:pPr>
              <a:defRPr sz="1800"/>
            </a:pPr>
            <a:r>
              <a:t>  • Frozen MedGemma-4B encoder + classification head</a:t>
            </a:r>
          </a:p>
          <a:p>
            <a:pPr>
              <a:defRPr sz="1800"/>
            </a:pPr>
            <a:r>
              <a:t>  • Multi-image input with &lt;start_of_image&gt; tokens</a:t>
            </a:r>
          </a:p>
          <a:p>
            <a:pPr>
              <a:defRPr sz="1800"/>
            </a:pPr>
            <a:r>
              <a:t>  • Modality-aware prompt engineering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Prompt Example:</a:t>
            </a:r>
          </a:p>
          <a:p>
            <a:pPr>
              <a:defRPr sz="1800"/>
            </a:pPr>
            <a:r>
              <a:t>  "&lt;start_of_image&gt; &lt;start_of_image&gt; &lt;start_of_image&gt;</a:t>
            </a:r>
          </a:p>
          <a:p>
            <a:pPr>
              <a:defRPr sz="1800"/>
            </a:pPr>
            <a:r>
              <a:t>   You are analyzing multiple orthodontic images...</a:t>
            </a:r>
          </a:p>
          <a:p>
            <a:pPr>
              <a:defRPr sz="1800"/>
            </a:pPr>
            <a:r>
              <a:t>   Image 1 is a panoramic X-ray (OPG).</a:t>
            </a:r>
          </a:p>
          <a:p>
            <a:pPr>
              <a:defRPr sz="1800"/>
            </a:pPr>
            <a:r>
              <a:t>   Image 2 is an intraoral photograph..."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Best Performance: 72.73% validation accuracy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 Comparison</a:t>
            </a:r>
          </a:p>
        </p:txBody>
      </p:sp>
      <p:pic>
        <p:nvPicPr>
          <p:cNvPr id="4" name="Picture 3" descr="all_experiment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1627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Comparison of training and validation metrics across all experiments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E1: OPG-only Baseline - Training Dynamics</a:t>
            </a:r>
          </a:p>
        </p:txBody>
      </p:sp>
      <p:pic>
        <p:nvPicPr>
          <p:cNvPr id="4" name="Picture 3" descr="E1_OPG-only_Baselin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904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Shows overfitting - validation loss increases while training continues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E2: Late Fusion - Training Dynamics (Best Performer)</a:t>
            </a:r>
          </a:p>
        </p:txBody>
      </p:sp>
      <p:pic>
        <p:nvPicPr>
          <p:cNvPr id="4" name="Picture 3" descr="E2_Late_Fus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904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Extremely stable - maintains ~93.5% validation accuracy throughout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Key Findings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Performance Ranking:</a:t>
            </a:r>
          </a:p>
          <a:p>
            <a:pPr>
              <a:defRPr sz="1800"/>
            </a:pPr>
            <a:r>
              <a:t>  1. E2 (Late Fusion): 93.51% ⭐ - Clear winner</a:t>
            </a:r>
          </a:p>
          <a:p>
            <a:pPr>
              <a:defRPr sz="1800"/>
            </a:pPr>
            <a:r>
              <a:t>  2. E3 (Multi-Image): 72.73% - Moderate improvement over baseline</a:t>
            </a:r>
          </a:p>
          <a:p>
            <a:pPr>
              <a:defRPr sz="1800"/>
            </a:pPr>
            <a:r>
              <a:t>  3. E1 (OPG-only): 66.67% - Baseline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Insights:</a:t>
            </a:r>
          </a:p>
          <a:p>
            <a:pPr>
              <a:defRPr sz="1800"/>
            </a:pPr>
            <a:r>
              <a:t>  ✓ Multi-modal fusion significantly outperforms single modality</a:t>
            </a:r>
          </a:p>
          <a:p>
            <a:pPr>
              <a:defRPr sz="1800"/>
            </a:pPr>
            <a:r>
              <a:t>  ✓ Simple late fusion beats sophisticated multi-image prompting</a:t>
            </a:r>
          </a:p>
          <a:p>
            <a:pPr>
              <a:defRPr sz="1800"/>
            </a:pPr>
            <a:r>
              <a:t>  ⚠ E3 shows promise but may need more training or tuning</a:t>
            </a:r>
          </a:p>
          <a:p>
            <a:pPr>
              <a:defRPr sz="1800"/>
            </a:pPr>
            <a:r>
              <a:t>  ⚠ E1 exhibits overfitting with frozen MedGemma encoder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Recommendation: Deploy E2 (Late Fusion) for production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